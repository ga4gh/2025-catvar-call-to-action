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0" r:id="rId1"/>
  </p:sldMasterIdLst>
  <p:notesMasterIdLst>
    <p:notesMasterId r:id="rId3"/>
  </p:notesMasterIdLst>
  <p:sldIdLst>
    <p:sldId id="258" r:id="rId2"/>
  </p:sldIdLst>
  <p:sldSz cx="6588125" cy="27003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D3C46"/>
    <a:srgbClr val="B78A12"/>
    <a:srgbClr val="7C8184"/>
    <a:srgbClr val="BFBFBF"/>
    <a:srgbClr val="F4B9BE"/>
    <a:srgbClr val="CF5C86"/>
    <a:srgbClr val="41AC29"/>
    <a:srgbClr val="4A1C29"/>
    <a:srgbClr val="867DCE"/>
    <a:srgbClr val="A716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99"/>
    <p:restoredTop sz="94556"/>
  </p:normalViewPr>
  <p:slideViewPr>
    <p:cSldViewPr snapToGrid="0" snapToObjects="1">
      <p:cViewPr varScale="1">
        <p:scale>
          <a:sx n="326" d="100"/>
          <a:sy n="326" d="100"/>
        </p:scale>
        <p:origin x="192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6CEF8C-C275-5B4D-A6F9-44239AED55DF}" type="datetimeFigureOut">
              <a:rPr lang="en-US" smtClean="0"/>
              <a:t>6/17/26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334963" y="1143000"/>
            <a:ext cx="752792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654C47-7301-3641-8A20-71A4C98CD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066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334963" y="1143000"/>
            <a:ext cx="7527926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654C47-7301-3641-8A20-71A4C98CDD4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590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3516" y="441930"/>
            <a:ext cx="4941094" cy="940118"/>
          </a:xfrm>
        </p:spPr>
        <p:txBody>
          <a:bodyPr anchor="b"/>
          <a:lstStyle>
            <a:lvl1pPr algn="ctr">
              <a:defRPr sz="23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3516" y="1418303"/>
            <a:ext cx="4941094" cy="651956"/>
          </a:xfrm>
        </p:spPr>
        <p:txBody>
          <a:bodyPr/>
          <a:lstStyle>
            <a:lvl1pPr marL="0" indent="0" algn="ctr">
              <a:buNone/>
              <a:defRPr sz="945"/>
            </a:lvl1pPr>
            <a:lvl2pPr marL="180045" indent="0" algn="ctr">
              <a:buNone/>
              <a:defRPr sz="788"/>
            </a:lvl2pPr>
            <a:lvl3pPr marL="360091" indent="0" algn="ctr">
              <a:buNone/>
              <a:defRPr sz="709"/>
            </a:lvl3pPr>
            <a:lvl4pPr marL="540136" indent="0" algn="ctr">
              <a:buNone/>
              <a:defRPr sz="630"/>
            </a:lvl4pPr>
            <a:lvl5pPr marL="720181" indent="0" algn="ctr">
              <a:buNone/>
              <a:defRPr sz="630"/>
            </a:lvl5pPr>
            <a:lvl6pPr marL="900227" indent="0" algn="ctr">
              <a:buNone/>
              <a:defRPr sz="630"/>
            </a:lvl6pPr>
            <a:lvl7pPr marL="1080272" indent="0" algn="ctr">
              <a:buNone/>
              <a:defRPr sz="630"/>
            </a:lvl7pPr>
            <a:lvl8pPr marL="1260318" indent="0" algn="ctr">
              <a:buNone/>
              <a:defRPr sz="630"/>
            </a:lvl8pPr>
            <a:lvl9pPr marL="1440363" indent="0" algn="ctr">
              <a:buNone/>
              <a:defRPr sz="63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9E9-5EC3-D444-8E38-E43C59FC4D5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9C59-F6DF-3446-B9D7-42D935A4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850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9E9-5EC3-D444-8E38-E43C59FC4D5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9C59-F6DF-3446-B9D7-42D935A4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613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02" y="673210"/>
            <a:ext cx="5682258" cy="1123265"/>
          </a:xfrm>
        </p:spPr>
        <p:txBody>
          <a:bodyPr anchor="b"/>
          <a:lstStyle>
            <a:lvl1pPr>
              <a:defRPr sz="23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9502" y="1807101"/>
            <a:ext cx="5682258" cy="590699"/>
          </a:xfrm>
        </p:spPr>
        <p:txBody>
          <a:bodyPr/>
          <a:lstStyle>
            <a:lvl1pPr marL="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1pPr>
            <a:lvl2pPr marL="18004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2pPr>
            <a:lvl3pPr marL="360091" indent="0">
              <a:buNone/>
              <a:defRPr sz="709">
                <a:solidFill>
                  <a:schemeClr val="tx1">
                    <a:tint val="75000"/>
                  </a:schemeClr>
                </a:solidFill>
              </a:defRPr>
            </a:lvl3pPr>
            <a:lvl4pPr marL="540136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4pPr>
            <a:lvl5pPr marL="720181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5pPr>
            <a:lvl6pPr marL="900227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6pPr>
            <a:lvl7pPr marL="1080272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7pPr>
            <a:lvl8pPr marL="1260318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8pPr>
            <a:lvl9pPr marL="1440363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9E9-5EC3-D444-8E38-E43C59FC4D5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9C59-F6DF-3446-B9D7-42D935A4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891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2934" y="718840"/>
            <a:ext cx="2799953" cy="17133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35238" y="718840"/>
            <a:ext cx="2799953" cy="17133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9E9-5EC3-D444-8E38-E43C59FC4D5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9C59-F6DF-3446-B9D7-42D935A4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532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792" y="143768"/>
            <a:ext cx="5682258" cy="52194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3792" y="661958"/>
            <a:ext cx="2787085" cy="324415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792" y="986373"/>
            <a:ext cx="2787085" cy="14508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238" y="661958"/>
            <a:ext cx="2800811" cy="324415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335238" y="986373"/>
            <a:ext cx="2800811" cy="14508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9E9-5EC3-D444-8E38-E43C59FC4D5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9C59-F6DF-3446-B9D7-42D935A4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130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9E9-5EC3-D444-8E38-E43C59FC4D5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9C59-F6DF-3446-B9D7-42D935A4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049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9E9-5EC3-D444-8E38-E43C59FC4D5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9C59-F6DF-3446-B9D7-42D935A4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625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792" y="180022"/>
            <a:ext cx="2124842" cy="630079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00811" y="388799"/>
            <a:ext cx="3335238" cy="1918990"/>
          </a:xfrm>
        </p:spPr>
        <p:txBody>
          <a:bodyPr/>
          <a:lstStyle>
            <a:lvl1pPr>
              <a:defRPr sz="1260"/>
            </a:lvl1pPr>
            <a:lvl2pPr>
              <a:defRPr sz="1103"/>
            </a:lvl2pPr>
            <a:lvl3pPr>
              <a:defRPr sz="945"/>
            </a:lvl3pPr>
            <a:lvl4pPr>
              <a:defRPr sz="788"/>
            </a:lvl4pPr>
            <a:lvl5pPr>
              <a:defRPr sz="788"/>
            </a:lvl5pPr>
            <a:lvl6pPr>
              <a:defRPr sz="788"/>
            </a:lvl6pPr>
            <a:lvl7pPr>
              <a:defRPr sz="788"/>
            </a:lvl7pPr>
            <a:lvl8pPr>
              <a:defRPr sz="788"/>
            </a:lvl8pPr>
            <a:lvl9pPr>
              <a:defRPr sz="7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3792" y="810101"/>
            <a:ext cx="2124842" cy="1500813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9E9-5EC3-D444-8E38-E43C59FC4D5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9C59-F6DF-3446-B9D7-42D935A4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226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792" y="180022"/>
            <a:ext cx="2124842" cy="630079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00811" y="388799"/>
            <a:ext cx="3335238" cy="1918990"/>
          </a:xfrm>
        </p:spPr>
        <p:txBody>
          <a:bodyPr anchor="t"/>
          <a:lstStyle>
            <a:lvl1pPr marL="0" indent="0">
              <a:buNone/>
              <a:defRPr sz="1260"/>
            </a:lvl1pPr>
            <a:lvl2pPr marL="180045" indent="0">
              <a:buNone/>
              <a:defRPr sz="1103"/>
            </a:lvl2pPr>
            <a:lvl3pPr marL="360091" indent="0">
              <a:buNone/>
              <a:defRPr sz="945"/>
            </a:lvl3pPr>
            <a:lvl4pPr marL="540136" indent="0">
              <a:buNone/>
              <a:defRPr sz="788"/>
            </a:lvl4pPr>
            <a:lvl5pPr marL="720181" indent="0">
              <a:buNone/>
              <a:defRPr sz="788"/>
            </a:lvl5pPr>
            <a:lvl6pPr marL="900227" indent="0">
              <a:buNone/>
              <a:defRPr sz="788"/>
            </a:lvl6pPr>
            <a:lvl7pPr marL="1080272" indent="0">
              <a:buNone/>
              <a:defRPr sz="788"/>
            </a:lvl7pPr>
            <a:lvl8pPr marL="1260318" indent="0">
              <a:buNone/>
              <a:defRPr sz="788"/>
            </a:lvl8pPr>
            <a:lvl9pPr marL="1440363" indent="0">
              <a:buNone/>
              <a:defRPr sz="78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3792" y="810101"/>
            <a:ext cx="2124842" cy="1500813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9E9-5EC3-D444-8E38-E43C59FC4D5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9C59-F6DF-3446-B9D7-42D935A4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256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9E9-5EC3-D444-8E38-E43C59FC4D5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9C59-F6DF-3446-B9D7-42D935A4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22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714627" y="143768"/>
            <a:ext cx="1420564" cy="22884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2933" y="143768"/>
            <a:ext cx="4179342" cy="22884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4D9E9-5EC3-D444-8E38-E43C59FC4D5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29C59-F6DF-3446-B9D7-42D935A4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72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2934" y="143768"/>
            <a:ext cx="5682258" cy="5219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2934" y="718840"/>
            <a:ext cx="5682258" cy="17133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2934" y="2502813"/>
            <a:ext cx="1482328" cy="1437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4D9E9-5EC3-D444-8E38-E43C59FC4D54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82317" y="2502813"/>
            <a:ext cx="2223492" cy="1437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52863" y="2502813"/>
            <a:ext cx="1482328" cy="1437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D29C59-F6DF-3446-B9D7-42D935A403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610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360091" rtl="0" eaLnBrk="1" latinLnBrk="0" hangingPunct="1">
        <a:lnSpc>
          <a:spcPct val="90000"/>
        </a:lnSpc>
        <a:spcBef>
          <a:spcPct val="0"/>
        </a:spcBef>
        <a:buNone/>
        <a:defRPr sz="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023" indent="-90023" algn="l" defTabSz="360091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103" kern="1200">
          <a:solidFill>
            <a:schemeClr val="tx1"/>
          </a:solidFill>
          <a:latin typeface="+mn-lt"/>
          <a:ea typeface="+mn-ea"/>
          <a:cs typeface="+mn-cs"/>
        </a:defRPr>
      </a:lvl1pPr>
      <a:lvl2pPr marL="270068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50113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3pPr>
      <a:lvl4pPr marL="63015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810204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9024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170295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350340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530386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1pPr>
      <a:lvl2pPr marL="180045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2pPr>
      <a:lvl3pPr marL="36009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40136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72018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00227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080272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260318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440363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roup 119">
            <a:extLst>
              <a:ext uri="{FF2B5EF4-FFF2-40B4-BE49-F238E27FC236}">
                <a16:creationId xmlns:a16="http://schemas.microsoft.com/office/drawing/2014/main" id="{A79783C6-F6B0-AA6C-2B08-CF7433E2DF88}"/>
              </a:ext>
            </a:extLst>
          </p:cNvPr>
          <p:cNvGrpSpPr/>
          <p:nvPr/>
        </p:nvGrpSpPr>
        <p:grpSpPr>
          <a:xfrm>
            <a:off x="104609" y="0"/>
            <a:ext cx="6378905" cy="2399949"/>
            <a:chOff x="84290" y="260497"/>
            <a:chExt cx="6378905" cy="239994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E33839D-F59B-5D6B-5AFD-343D77BF877A}"/>
                </a:ext>
              </a:extLst>
            </p:cNvPr>
            <p:cNvSpPr/>
            <p:nvPr/>
          </p:nvSpPr>
          <p:spPr>
            <a:xfrm>
              <a:off x="84290" y="481438"/>
              <a:ext cx="3764975" cy="2094032"/>
            </a:xfrm>
            <a:prstGeom prst="rect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8" name="Curved Connector 67">
              <a:extLst>
                <a:ext uri="{FF2B5EF4-FFF2-40B4-BE49-F238E27FC236}">
                  <a16:creationId xmlns:a16="http://schemas.microsoft.com/office/drawing/2014/main" id="{AF92620E-DAAE-043A-4F03-43F19F6DB9C6}"/>
                </a:ext>
              </a:extLst>
            </p:cNvPr>
            <p:cNvCxnSpPr>
              <a:cxnSpLocks/>
              <a:stCxn id="42" idx="3"/>
              <a:endCxn id="29" idx="1"/>
            </p:cNvCxnSpPr>
            <p:nvPr/>
          </p:nvCxnSpPr>
          <p:spPr>
            <a:xfrm flipV="1">
              <a:off x="1132926" y="1428656"/>
              <a:ext cx="244558" cy="338975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7D3C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Curved Connector 69">
              <a:extLst>
                <a:ext uri="{FF2B5EF4-FFF2-40B4-BE49-F238E27FC236}">
                  <a16:creationId xmlns:a16="http://schemas.microsoft.com/office/drawing/2014/main" id="{1AC2272F-1211-94E7-8220-B83078CC09A8}"/>
                </a:ext>
              </a:extLst>
            </p:cNvPr>
            <p:cNvCxnSpPr>
              <a:cxnSpLocks/>
              <a:stCxn id="7" idx="3"/>
              <a:endCxn id="32" idx="1"/>
            </p:cNvCxnSpPr>
            <p:nvPr/>
          </p:nvCxnSpPr>
          <p:spPr>
            <a:xfrm flipV="1">
              <a:off x="2465502" y="754432"/>
              <a:ext cx="249153" cy="330661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7D3C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EE20482-83F3-E704-19BC-C7CA6E0219D4}"/>
                </a:ext>
              </a:extLst>
            </p:cNvPr>
            <p:cNvSpPr txBox="1"/>
            <p:nvPr/>
          </p:nvSpPr>
          <p:spPr>
            <a:xfrm>
              <a:off x="124937" y="662988"/>
              <a:ext cx="1007999" cy="246221"/>
            </a:xfrm>
            <a:prstGeom prst="rect">
              <a:avLst/>
            </a:prstGeom>
            <a:solidFill>
              <a:srgbClr val="F4B9BE">
                <a:alpha val="49804"/>
              </a:srgbClr>
            </a:solidFill>
            <a:ln>
              <a:noFill/>
            </a:ln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NC_000007.14:</a:t>
              </a:r>
              <a:b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g.55174772_55174786del 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24020EF-DAE7-7580-1A27-3A677A2952E8}"/>
                </a:ext>
              </a:extLst>
            </p:cNvPr>
            <p:cNvSpPr txBox="1"/>
            <p:nvPr/>
          </p:nvSpPr>
          <p:spPr>
            <a:xfrm>
              <a:off x="124937" y="1000454"/>
              <a:ext cx="1007999" cy="246221"/>
            </a:xfrm>
            <a:prstGeom prst="rect">
              <a:avLst/>
            </a:prstGeom>
            <a:solidFill>
              <a:srgbClr val="F4B9BE">
                <a:alpha val="49804"/>
              </a:srgbClr>
            </a:solidFill>
            <a:ln>
              <a:noFill/>
            </a:ln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NC_000007.14:</a:t>
              </a:r>
              <a:b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g.55174773_55174787del 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4C94FAF-6BF8-88A2-F9EC-DBC082CAEDFC}"/>
                </a:ext>
              </a:extLst>
            </p:cNvPr>
            <p:cNvSpPr txBox="1"/>
            <p:nvPr/>
          </p:nvSpPr>
          <p:spPr>
            <a:xfrm>
              <a:off x="1457502" y="662988"/>
              <a:ext cx="1007999" cy="169277"/>
            </a:xfrm>
            <a:prstGeom prst="rect">
              <a:avLst/>
            </a:prstGeom>
            <a:solidFill>
              <a:srgbClr val="F4B9BE">
                <a:alpha val="49804"/>
              </a:srgbClr>
            </a:solidFill>
            <a:ln>
              <a:noFill/>
            </a:ln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NM_005228.5:c.2235_2249del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0705F86-3F87-DDA7-EA53-07B81A7B400C}"/>
                </a:ext>
              </a:extLst>
            </p:cNvPr>
            <p:cNvSpPr txBox="1"/>
            <p:nvPr/>
          </p:nvSpPr>
          <p:spPr>
            <a:xfrm>
              <a:off x="1457503" y="1000454"/>
              <a:ext cx="1007999" cy="169277"/>
            </a:xfrm>
            <a:prstGeom prst="rect">
              <a:avLst/>
            </a:prstGeom>
            <a:solidFill>
              <a:srgbClr val="F4B9BE">
                <a:alpha val="49804"/>
              </a:srgbClr>
            </a:solidFill>
            <a:ln>
              <a:noFill/>
            </a:ln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NM_005228.5:c.2236_2250del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8668156-FF50-48D8-827E-D270CE87599C}"/>
                </a:ext>
              </a:extLst>
            </p:cNvPr>
            <p:cNvSpPr txBox="1"/>
            <p:nvPr/>
          </p:nvSpPr>
          <p:spPr>
            <a:xfrm>
              <a:off x="2790067" y="662988"/>
              <a:ext cx="1007999" cy="169277"/>
            </a:xfrm>
            <a:prstGeom prst="rect">
              <a:avLst/>
            </a:prstGeom>
            <a:solidFill>
              <a:srgbClr val="F4B9BE">
                <a:alpha val="49804"/>
              </a:srgbClr>
            </a:solidFill>
            <a:ln>
              <a:noFill/>
            </a:ln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NP_005219.2:p.E746_A750del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7075C77-B677-3A1B-3EDE-A1AE597830BD}"/>
                </a:ext>
              </a:extLst>
            </p:cNvPr>
            <p:cNvSpPr txBox="1"/>
            <p:nvPr/>
          </p:nvSpPr>
          <p:spPr>
            <a:xfrm>
              <a:off x="2790065" y="1000454"/>
              <a:ext cx="1007999" cy="169277"/>
            </a:xfrm>
            <a:prstGeom prst="rect">
              <a:avLst/>
            </a:prstGeom>
            <a:solidFill>
              <a:srgbClr val="F4B9BE">
                <a:alpha val="50000"/>
              </a:srgbClr>
            </a:solidFill>
            <a:ln w="6350">
              <a:noFill/>
              <a:prstDash val="dash"/>
            </a:ln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NP_005219.2:p.L747_T751del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B9B28AA-0297-BEF1-74E5-5E89CDAFBAF2}"/>
                </a:ext>
              </a:extLst>
            </p:cNvPr>
            <p:cNvSpPr txBox="1"/>
            <p:nvPr/>
          </p:nvSpPr>
          <p:spPr>
            <a:xfrm>
              <a:off x="124936" y="1337920"/>
              <a:ext cx="1007999" cy="246221"/>
            </a:xfrm>
            <a:prstGeom prst="rect">
              <a:avLst/>
            </a:prstGeom>
            <a:solidFill>
              <a:srgbClr val="F4B9BE">
                <a:alpha val="50000"/>
              </a:srgbClr>
            </a:solidFill>
            <a:ln w="6350">
              <a:noFill/>
              <a:prstDash val="dash"/>
            </a:ln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NC_000007.14:</a:t>
              </a:r>
              <a:b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g.55174775_55174789del 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50031A52-D40A-5D7D-D75A-658F64957F17}"/>
                </a:ext>
              </a:extLst>
            </p:cNvPr>
            <p:cNvCxnSpPr>
              <a:cxnSpLocks/>
              <a:stCxn id="30" idx="3"/>
              <a:endCxn id="6" idx="1"/>
            </p:cNvCxnSpPr>
            <p:nvPr/>
          </p:nvCxnSpPr>
          <p:spPr>
            <a:xfrm>
              <a:off x="1132927" y="747624"/>
              <a:ext cx="324575" cy="2"/>
            </a:xfrm>
            <a:prstGeom prst="straightConnector1">
              <a:avLst/>
            </a:prstGeom>
            <a:ln>
              <a:solidFill>
                <a:srgbClr val="7D3C4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6B276836-0882-5A4A-D8BB-AE1B8169256C}"/>
                </a:ext>
              </a:extLst>
            </p:cNvPr>
            <p:cNvCxnSpPr>
              <a:cxnSpLocks/>
              <a:stCxn id="34" idx="3"/>
              <a:endCxn id="7" idx="1"/>
            </p:cNvCxnSpPr>
            <p:nvPr/>
          </p:nvCxnSpPr>
          <p:spPr>
            <a:xfrm>
              <a:off x="1131682" y="1085092"/>
              <a:ext cx="325821" cy="0"/>
            </a:xfrm>
            <a:prstGeom prst="straightConnector1">
              <a:avLst/>
            </a:prstGeom>
            <a:ln>
              <a:solidFill>
                <a:srgbClr val="7D3C4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574F2FB-7BB7-FE24-6B06-90C80B07D74A}"/>
                </a:ext>
              </a:extLst>
            </p:cNvPr>
            <p:cNvCxnSpPr>
              <a:stCxn id="6" idx="3"/>
              <a:endCxn id="8" idx="1"/>
            </p:cNvCxnSpPr>
            <p:nvPr/>
          </p:nvCxnSpPr>
          <p:spPr>
            <a:xfrm>
              <a:off x="2465500" y="747626"/>
              <a:ext cx="324566" cy="0"/>
            </a:xfrm>
            <a:prstGeom prst="straightConnector1">
              <a:avLst/>
            </a:prstGeom>
            <a:ln>
              <a:solidFill>
                <a:srgbClr val="7D3C4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Curved Connector 35">
              <a:extLst>
                <a:ext uri="{FF2B5EF4-FFF2-40B4-BE49-F238E27FC236}">
                  <a16:creationId xmlns:a16="http://schemas.microsoft.com/office/drawing/2014/main" id="{56CB475F-6E25-7A89-EC46-AD322B78064E}"/>
                </a:ext>
              </a:extLst>
            </p:cNvPr>
            <p:cNvCxnSpPr>
              <a:cxnSpLocks/>
              <a:stCxn id="10" idx="3"/>
              <a:endCxn id="12" idx="1"/>
            </p:cNvCxnSpPr>
            <p:nvPr/>
          </p:nvCxnSpPr>
          <p:spPr>
            <a:xfrm flipV="1">
              <a:off x="5101814" y="1530043"/>
              <a:ext cx="353382" cy="4285"/>
            </a:xfrm>
            <a:prstGeom prst="curvedConnector3">
              <a:avLst/>
            </a:prstGeom>
            <a:ln>
              <a:solidFill>
                <a:srgbClr val="7D3C4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1457D82-6642-A0B5-2232-313792B23C04}"/>
                </a:ext>
              </a:extLst>
            </p:cNvPr>
            <p:cNvSpPr txBox="1"/>
            <p:nvPr/>
          </p:nvSpPr>
          <p:spPr>
            <a:xfrm>
              <a:off x="1457501" y="1337919"/>
              <a:ext cx="1007999" cy="169277"/>
            </a:xfrm>
            <a:prstGeom prst="rect">
              <a:avLst/>
            </a:prstGeom>
            <a:solidFill>
              <a:srgbClr val="F4B9BE">
                <a:alpha val="50000"/>
              </a:srgbClr>
            </a:solidFill>
            <a:ln w="6350">
              <a:noFill/>
              <a:prstDash val="dash"/>
            </a:ln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NM_005228.5:c.2240_2254del</a:t>
              </a: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DE514F6A-3928-0558-CC02-4D606C790DD0}"/>
                </a:ext>
              </a:extLst>
            </p:cNvPr>
            <p:cNvCxnSpPr>
              <a:cxnSpLocks/>
              <a:stCxn id="40" idx="3"/>
              <a:endCxn id="39" idx="1"/>
            </p:cNvCxnSpPr>
            <p:nvPr/>
          </p:nvCxnSpPr>
          <p:spPr>
            <a:xfrm>
              <a:off x="1126174" y="1422557"/>
              <a:ext cx="331327" cy="0"/>
            </a:xfrm>
            <a:prstGeom prst="straightConnector1">
              <a:avLst/>
            </a:prstGeom>
            <a:ln>
              <a:solidFill>
                <a:srgbClr val="7D3C4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C84E535-D658-5A31-612E-EE68B09A4513}"/>
                </a:ext>
              </a:extLst>
            </p:cNvPr>
            <p:cNvSpPr txBox="1"/>
            <p:nvPr/>
          </p:nvSpPr>
          <p:spPr>
            <a:xfrm>
              <a:off x="124936" y="1916858"/>
              <a:ext cx="5005693" cy="184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Categorical due to: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11A0F2A-AC68-719D-2D75-5A31795C7B80}"/>
                </a:ext>
              </a:extLst>
            </p:cNvPr>
            <p:cNvSpPr txBox="1"/>
            <p:nvPr/>
          </p:nvSpPr>
          <p:spPr>
            <a:xfrm>
              <a:off x="124936" y="2118150"/>
              <a:ext cx="1007999" cy="369332"/>
            </a:xfrm>
            <a:prstGeom prst="rect">
              <a:avLst/>
            </a:prstGeom>
            <a:solidFill>
              <a:srgbClr val="B78A12">
                <a:alpha val="25098"/>
              </a:srgb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Reference assemblies, insertion and deletion normalization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08F9A0D-A939-6255-584C-60857390E4C5}"/>
                </a:ext>
              </a:extLst>
            </p:cNvPr>
            <p:cNvSpPr txBox="1"/>
            <p:nvPr/>
          </p:nvSpPr>
          <p:spPr>
            <a:xfrm>
              <a:off x="1457500" y="2118150"/>
              <a:ext cx="1007999" cy="184666"/>
            </a:xfrm>
            <a:prstGeom prst="rect">
              <a:avLst/>
            </a:prstGeom>
            <a:solidFill>
              <a:srgbClr val="B78A12">
                <a:alpha val="25098"/>
              </a:srgb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Transcript choice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CCEE550-E9A4-2A61-F397-42257BCD24BF}"/>
                </a:ext>
              </a:extLst>
            </p:cNvPr>
            <p:cNvSpPr txBox="1"/>
            <p:nvPr/>
          </p:nvSpPr>
          <p:spPr>
            <a:xfrm>
              <a:off x="2790064" y="2118149"/>
              <a:ext cx="1007999" cy="369332"/>
            </a:xfrm>
            <a:prstGeom prst="rect">
              <a:avLst/>
            </a:prstGeom>
            <a:solidFill>
              <a:srgbClr val="B78A12">
                <a:alpha val="25098"/>
              </a:srgb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Codon degeneracy, protein isoforms, frameshift normalization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6C6F662-FAAE-8DA4-727E-1A67CE46FAE0}"/>
                </a:ext>
              </a:extLst>
            </p:cNvPr>
            <p:cNvSpPr txBox="1"/>
            <p:nvPr/>
          </p:nvSpPr>
          <p:spPr>
            <a:xfrm>
              <a:off x="4100023" y="2007825"/>
              <a:ext cx="1007999" cy="553998"/>
            </a:xfrm>
            <a:prstGeom prst="rect">
              <a:avLst/>
            </a:prstGeom>
            <a:solidFill>
              <a:srgbClr val="B78A12">
                <a:alpha val="25098"/>
              </a:srgb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Describes a discrete class of possible variation in the abstract, often representing sets of assayable alterations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0EDC3DA-C94E-6EBD-8EF1-AC6EF4D0F982}"/>
                </a:ext>
              </a:extLst>
            </p:cNvPr>
            <p:cNvSpPr txBox="1"/>
            <p:nvPr/>
          </p:nvSpPr>
          <p:spPr>
            <a:xfrm>
              <a:off x="2790063" y="481438"/>
              <a:ext cx="100799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HGVS Protein (p.)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8610847-0CDF-17F6-4E61-829170FB622C}"/>
                </a:ext>
              </a:extLst>
            </p:cNvPr>
            <p:cNvSpPr txBox="1"/>
            <p:nvPr/>
          </p:nvSpPr>
          <p:spPr>
            <a:xfrm>
              <a:off x="1457497" y="485470"/>
              <a:ext cx="100799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HGVS Coding DNA (c.)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5D67200-6ECC-83F4-0B3F-27ABC48B7C79}"/>
                </a:ext>
              </a:extLst>
            </p:cNvPr>
            <p:cNvSpPr txBox="1"/>
            <p:nvPr/>
          </p:nvSpPr>
          <p:spPr>
            <a:xfrm>
              <a:off x="124930" y="481438"/>
              <a:ext cx="100799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HGVS Genomic (g.)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1414C298-01A0-C2CB-D4A2-2E033913A840}"/>
                </a:ext>
              </a:extLst>
            </p:cNvPr>
            <p:cNvSpPr txBox="1"/>
            <p:nvPr/>
          </p:nvSpPr>
          <p:spPr>
            <a:xfrm>
              <a:off x="1480105" y="260497"/>
              <a:ext cx="36279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700" dirty="0">
                  <a:latin typeface="Arial" panose="020B0604020202020204" pitchFamily="34" charset="0"/>
                  <a:cs typeface="Arial" panose="020B0604020202020204" pitchFamily="34" charset="0"/>
                </a:rPr>
                <a:t>Both specific and broadly defined sets of genomic alterations are inherently categorical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4814D26-B3CB-51D3-70BD-24A1322EEBC9}"/>
                </a:ext>
              </a:extLst>
            </p:cNvPr>
            <p:cNvSpPr txBox="1"/>
            <p:nvPr/>
          </p:nvSpPr>
          <p:spPr>
            <a:xfrm>
              <a:off x="124936" y="1674843"/>
              <a:ext cx="1007999" cy="246221"/>
            </a:xfrm>
            <a:prstGeom prst="rect">
              <a:avLst/>
            </a:prstGeom>
            <a:solidFill>
              <a:srgbClr val="F4B9BE">
                <a:alpha val="50000"/>
              </a:srgbClr>
            </a:solidFill>
            <a:ln w="6350">
              <a:noFill/>
              <a:prstDash val="dash"/>
            </a:ln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NC_000007.13:</a:t>
              </a:r>
              <a:b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g.55242470_55242484del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3B5E9D5-D1FD-95E7-CEA3-E2D6134AED2F}"/>
                </a:ext>
              </a:extLst>
            </p:cNvPr>
            <p:cNvSpPr txBox="1"/>
            <p:nvPr/>
          </p:nvSpPr>
          <p:spPr>
            <a:xfrm rot="18936829">
              <a:off x="1122022" y="1593724"/>
              <a:ext cx="491393" cy="169277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Transcribes to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8B92D35A-E36C-A999-6FEB-8A78245AAFE0}"/>
                </a:ext>
              </a:extLst>
            </p:cNvPr>
            <p:cNvSpPr/>
            <p:nvPr/>
          </p:nvSpPr>
          <p:spPr>
            <a:xfrm>
              <a:off x="2708078" y="1000451"/>
              <a:ext cx="77426" cy="169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2" name="Curved Connector 71">
              <a:extLst>
                <a:ext uri="{FF2B5EF4-FFF2-40B4-BE49-F238E27FC236}">
                  <a16:creationId xmlns:a16="http://schemas.microsoft.com/office/drawing/2014/main" id="{9D6C1DD4-5F03-5B59-0C67-BE4CA4B1F950}"/>
                </a:ext>
              </a:extLst>
            </p:cNvPr>
            <p:cNvCxnSpPr>
              <a:cxnSpLocks/>
              <a:stCxn id="39" idx="3"/>
              <a:endCxn id="64" idx="1"/>
            </p:cNvCxnSpPr>
            <p:nvPr/>
          </p:nvCxnSpPr>
          <p:spPr>
            <a:xfrm flipV="1">
              <a:off x="2465500" y="1085051"/>
              <a:ext cx="242579" cy="337506"/>
            </a:xfrm>
            <a:prstGeom prst="curvedConnector3">
              <a:avLst/>
            </a:prstGeom>
            <a:ln>
              <a:solidFill>
                <a:srgbClr val="7D3C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40568288-5F55-E9B8-2FAC-B22BB88C4CED}"/>
                </a:ext>
              </a:extLst>
            </p:cNvPr>
            <p:cNvCxnSpPr>
              <a:stCxn id="64" idx="1"/>
              <a:endCxn id="9" idx="1"/>
            </p:cNvCxnSpPr>
            <p:nvPr/>
          </p:nvCxnSpPr>
          <p:spPr>
            <a:xfrm>
              <a:off x="2708078" y="1085054"/>
              <a:ext cx="81984" cy="39"/>
            </a:xfrm>
            <a:prstGeom prst="straightConnector1">
              <a:avLst/>
            </a:prstGeom>
            <a:ln>
              <a:solidFill>
                <a:srgbClr val="7D3C46">
                  <a:alpha val="75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9FAEC6C5-E0D7-6E3A-CCF2-97FC7F3154D5}"/>
                </a:ext>
              </a:extLst>
            </p:cNvPr>
            <p:cNvSpPr txBox="1"/>
            <p:nvPr/>
          </p:nvSpPr>
          <p:spPr>
            <a:xfrm>
              <a:off x="5158807" y="2491169"/>
              <a:ext cx="1304382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* for patients with non-small cell lung cancer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DC77474-1CEB-2CD4-9022-1CD95C39004E}"/>
                </a:ext>
              </a:extLst>
            </p:cNvPr>
            <p:cNvSpPr txBox="1"/>
            <p:nvPr/>
          </p:nvSpPr>
          <p:spPr>
            <a:xfrm>
              <a:off x="3198696" y="1166614"/>
              <a:ext cx="202299" cy="2126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300"/>
                </a:lnSpc>
              </a:pPr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>
                <a:lnSpc>
                  <a:spcPts val="300"/>
                </a:lnSpc>
              </a:pPr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>
                <a:lnSpc>
                  <a:spcPts val="300"/>
                </a:lnSpc>
              </a:pPr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91B1F7A-8380-D70F-6186-22DBDFDF268C}"/>
                </a:ext>
              </a:extLst>
            </p:cNvPr>
            <p:cNvSpPr txBox="1"/>
            <p:nvPr/>
          </p:nvSpPr>
          <p:spPr>
            <a:xfrm>
              <a:off x="1856694" y="1484656"/>
              <a:ext cx="202299" cy="2126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300"/>
                </a:lnSpc>
              </a:pPr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>
                <a:lnSpc>
                  <a:spcPts val="300"/>
                </a:lnSpc>
              </a:pPr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>
                <a:lnSpc>
                  <a:spcPts val="300"/>
                </a:lnSpc>
              </a:pPr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CB0B600-3911-A07D-9F11-BA7493E161D2}"/>
                </a:ext>
              </a:extLst>
            </p:cNvPr>
            <p:cNvSpPr txBox="1"/>
            <p:nvPr/>
          </p:nvSpPr>
          <p:spPr>
            <a:xfrm>
              <a:off x="527783" y="1908181"/>
              <a:ext cx="202299" cy="2126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300"/>
                </a:lnSpc>
              </a:pPr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>
                <a:lnSpc>
                  <a:spcPts val="300"/>
                </a:lnSpc>
              </a:pPr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>
                <a:lnSpc>
                  <a:spcPts val="300"/>
                </a:lnSpc>
              </a:pPr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23008A7-6D18-9955-F6C9-2D089C98D207}"/>
                </a:ext>
              </a:extLst>
            </p:cNvPr>
            <p:cNvSpPr txBox="1"/>
            <p:nvPr/>
          </p:nvSpPr>
          <p:spPr>
            <a:xfrm>
              <a:off x="1014926" y="662986"/>
              <a:ext cx="118000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000" rIns="36000" rtlCol="0">
              <a:spAutoFit/>
            </a:bodyPr>
            <a:lstStyle/>
            <a:p>
              <a:pPr algn="ctr"/>
              <a:endParaRPr lang="en-US" sz="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6258CDD-EAED-39CE-6910-79C751C9142C}"/>
                </a:ext>
              </a:extLst>
            </p:cNvPr>
            <p:cNvSpPr txBox="1"/>
            <p:nvPr/>
          </p:nvSpPr>
          <p:spPr>
            <a:xfrm>
              <a:off x="1013681" y="1000454"/>
              <a:ext cx="118000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000" rIns="36000" rtlCol="0">
              <a:spAutoFit/>
            </a:bodyPr>
            <a:lstStyle/>
            <a:p>
              <a:pPr algn="ctr"/>
              <a:endParaRPr lang="en-US" sz="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25802D2-ACFF-6568-EFC3-7D5BF3BDC7E9}"/>
                </a:ext>
              </a:extLst>
            </p:cNvPr>
            <p:cNvSpPr txBox="1"/>
            <p:nvPr/>
          </p:nvSpPr>
          <p:spPr>
            <a:xfrm>
              <a:off x="1008173" y="1337919"/>
              <a:ext cx="118000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000" rIns="36000" rtlCol="0">
              <a:spAutoFit/>
            </a:bodyPr>
            <a:lstStyle/>
            <a:p>
              <a:pPr algn="ctr"/>
              <a:endParaRPr lang="en-US" sz="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95FBBE8-67DC-94D0-620D-624714D5735D}"/>
                </a:ext>
              </a:extLst>
            </p:cNvPr>
            <p:cNvSpPr txBox="1"/>
            <p:nvPr/>
          </p:nvSpPr>
          <p:spPr>
            <a:xfrm>
              <a:off x="1014926" y="1682992"/>
              <a:ext cx="118000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000" rIns="36000" rtlCol="0">
              <a:spAutoFit/>
            </a:bodyPr>
            <a:lstStyle/>
            <a:p>
              <a:pPr algn="ctr"/>
              <a:endParaRPr lang="en-US" sz="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0AA0BB5-0A01-DF37-6068-25A9C3A0BAEA}"/>
                </a:ext>
              </a:extLst>
            </p:cNvPr>
            <p:cNvSpPr txBox="1"/>
            <p:nvPr/>
          </p:nvSpPr>
          <p:spPr>
            <a:xfrm>
              <a:off x="1377485" y="1344017"/>
              <a:ext cx="72849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000" rIns="36000" rtlCol="0">
              <a:spAutoFit/>
            </a:bodyPr>
            <a:lstStyle/>
            <a:p>
              <a:pPr algn="ctr"/>
              <a:endParaRPr lang="en-US" sz="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B723BF0-6D7D-1113-AD39-49DAD6B964CF}"/>
                </a:ext>
              </a:extLst>
            </p:cNvPr>
            <p:cNvSpPr txBox="1"/>
            <p:nvPr/>
          </p:nvSpPr>
          <p:spPr>
            <a:xfrm>
              <a:off x="2714655" y="669793"/>
              <a:ext cx="72849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36000" rIns="36000" rtlCol="0">
              <a:spAutoFit/>
            </a:bodyPr>
            <a:lstStyle/>
            <a:p>
              <a:pPr algn="ctr"/>
              <a:endParaRPr lang="en-US" sz="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DE2664D5-25F2-A6BD-5E21-C067203DC567}"/>
                </a:ext>
              </a:extLst>
            </p:cNvPr>
            <p:cNvCxnSpPr>
              <a:cxnSpLocks/>
              <a:stCxn id="3" idx="3"/>
              <a:endCxn id="10" idx="1"/>
            </p:cNvCxnSpPr>
            <p:nvPr/>
          </p:nvCxnSpPr>
          <p:spPr>
            <a:xfrm>
              <a:off x="3849265" y="1528454"/>
              <a:ext cx="244550" cy="5874"/>
            </a:xfrm>
            <a:prstGeom prst="straightConnector1">
              <a:avLst/>
            </a:prstGeom>
            <a:ln>
              <a:solidFill>
                <a:srgbClr val="7D3C4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A958154-89D9-64ED-1D25-FDD01538E651}"/>
                </a:ext>
              </a:extLst>
            </p:cNvPr>
            <p:cNvSpPr txBox="1"/>
            <p:nvPr/>
          </p:nvSpPr>
          <p:spPr>
            <a:xfrm>
              <a:off x="4093815" y="1449689"/>
              <a:ext cx="1007999" cy="169277"/>
            </a:xfrm>
            <a:prstGeom prst="rect">
              <a:avLst/>
            </a:prstGeom>
            <a:solidFill>
              <a:srgbClr val="CF5C86">
                <a:alpha val="49804"/>
              </a:srgbClr>
            </a:solidFill>
            <a:ln>
              <a:noFill/>
            </a:ln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sz="500" i="1" dirty="0">
                  <a:latin typeface="Arial" panose="020B0604020202020204" pitchFamily="34" charset="0"/>
                  <a:cs typeface="Arial" panose="020B0604020202020204" pitchFamily="34" charset="0"/>
                </a:rPr>
                <a:t>EGFR</a:t>
              </a:r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 exon 19 deletion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B4250BE-9C57-45BE-1786-D1FE5FF820F9}"/>
                </a:ext>
              </a:extLst>
            </p:cNvPr>
            <p:cNvSpPr txBox="1"/>
            <p:nvPr/>
          </p:nvSpPr>
          <p:spPr>
            <a:xfrm>
              <a:off x="5455187" y="1155597"/>
              <a:ext cx="1007999" cy="169277"/>
            </a:xfrm>
            <a:prstGeom prst="rect">
              <a:avLst/>
            </a:prstGeom>
            <a:solidFill>
              <a:srgbClr val="867DCE">
                <a:alpha val="50196"/>
              </a:srgbClr>
            </a:solidFill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Response to Dacomitinib*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0416FCA-63E8-0776-1540-D8DD552AA940}"/>
                </a:ext>
              </a:extLst>
            </p:cNvPr>
            <p:cNvSpPr txBox="1"/>
            <p:nvPr/>
          </p:nvSpPr>
          <p:spPr>
            <a:xfrm>
              <a:off x="5455196" y="1445404"/>
              <a:ext cx="1007999" cy="169277"/>
            </a:xfrm>
            <a:prstGeom prst="rect">
              <a:avLst/>
            </a:prstGeom>
            <a:solidFill>
              <a:srgbClr val="867DCE">
                <a:alpha val="50196"/>
              </a:srgbClr>
            </a:solidFill>
          </p:spPr>
          <p:txBody>
            <a:bodyPr wrap="square" lIns="36000" rIns="36000" rtlCol="0">
              <a:spAutoFit/>
            </a:bodyPr>
            <a:lstStyle/>
            <a:p>
              <a:pPr algn="ctr"/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Response to Erlotinib*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AAF8117-CD47-8768-DC7C-A7CDFB7B4C28}"/>
                </a:ext>
              </a:extLst>
            </p:cNvPr>
            <p:cNvSpPr txBox="1"/>
            <p:nvPr/>
          </p:nvSpPr>
          <p:spPr>
            <a:xfrm>
              <a:off x="5455190" y="1727949"/>
              <a:ext cx="1007999" cy="169277"/>
            </a:xfrm>
            <a:prstGeom prst="rect">
              <a:avLst/>
            </a:prstGeom>
            <a:solidFill>
              <a:srgbClr val="867DCE">
                <a:alpha val="50196"/>
              </a:srgb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Response to Osimertinib*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3E8C355-2A34-9C9D-E382-E75BE2185170}"/>
                </a:ext>
              </a:extLst>
            </p:cNvPr>
            <p:cNvSpPr txBox="1"/>
            <p:nvPr/>
          </p:nvSpPr>
          <p:spPr>
            <a:xfrm>
              <a:off x="5455189" y="924863"/>
              <a:ext cx="100799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Genomic knowledge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CC2B168-B774-C84A-0EC4-03870DA17137}"/>
                </a:ext>
              </a:extLst>
            </p:cNvPr>
            <p:cNvSpPr txBox="1"/>
            <p:nvPr/>
          </p:nvSpPr>
          <p:spPr>
            <a:xfrm>
              <a:off x="4525478" y="1618966"/>
              <a:ext cx="202299" cy="2126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300"/>
                </a:lnSpc>
              </a:pPr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>
                <a:lnSpc>
                  <a:spcPts val="300"/>
                </a:lnSpc>
              </a:pPr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>
                <a:lnSpc>
                  <a:spcPts val="300"/>
                </a:lnSpc>
              </a:pPr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8395556-08A7-2E3C-CD92-69C07A950366}"/>
                </a:ext>
              </a:extLst>
            </p:cNvPr>
            <p:cNvSpPr txBox="1"/>
            <p:nvPr/>
          </p:nvSpPr>
          <p:spPr>
            <a:xfrm>
              <a:off x="5858038" y="1919357"/>
              <a:ext cx="202299" cy="2126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300"/>
                </a:lnSpc>
              </a:pPr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>
                <a:lnSpc>
                  <a:spcPts val="300"/>
                </a:lnSpc>
              </a:pPr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>
                <a:lnSpc>
                  <a:spcPts val="300"/>
                </a:lnSpc>
              </a:pPr>
              <a:r>
                <a:rPr lang="en-US" sz="5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  <p:cxnSp>
          <p:nvCxnSpPr>
            <p:cNvPr id="106" name="Curved Connector 105">
              <a:extLst>
                <a:ext uri="{FF2B5EF4-FFF2-40B4-BE49-F238E27FC236}">
                  <a16:creationId xmlns:a16="http://schemas.microsoft.com/office/drawing/2014/main" id="{5D1735EB-1EBF-E7FD-6B04-A4CC96EFC1F5}"/>
                </a:ext>
              </a:extLst>
            </p:cNvPr>
            <p:cNvCxnSpPr>
              <a:stCxn id="10" idx="3"/>
              <a:endCxn id="13" idx="1"/>
            </p:cNvCxnSpPr>
            <p:nvPr/>
          </p:nvCxnSpPr>
          <p:spPr>
            <a:xfrm>
              <a:off x="5101814" y="1534328"/>
              <a:ext cx="353376" cy="278260"/>
            </a:xfrm>
            <a:prstGeom prst="curvedConnector3">
              <a:avLst/>
            </a:prstGeom>
            <a:ln>
              <a:solidFill>
                <a:srgbClr val="7D3C4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urved Connector 106">
              <a:extLst>
                <a:ext uri="{FF2B5EF4-FFF2-40B4-BE49-F238E27FC236}">
                  <a16:creationId xmlns:a16="http://schemas.microsoft.com/office/drawing/2014/main" id="{6398075E-5BA6-15B1-9C81-7142544226C7}"/>
                </a:ext>
              </a:extLst>
            </p:cNvPr>
            <p:cNvCxnSpPr>
              <a:cxnSpLocks/>
              <a:stCxn id="10" idx="3"/>
              <a:endCxn id="11" idx="1"/>
            </p:cNvCxnSpPr>
            <p:nvPr/>
          </p:nvCxnSpPr>
          <p:spPr>
            <a:xfrm flipV="1">
              <a:off x="5101814" y="1240236"/>
              <a:ext cx="353373" cy="294092"/>
            </a:xfrm>
            <a:prstGeom prst="curvedConnector3">
              <a:avLst/>
            </a:prstGeom>
            <a:ln>
              <a:solidFill>
                <a:srgbClr val="7D3C4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00203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1423</TotalTime>
  <Words>181</Words>
  <Application>Microsoft Macintosh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Reardon, Brendan</dc:creator>
  <cp:lastModifiedBy>Reardon, Brendan</cp:lastModifiedBy>
  <cp:revision>46</cp:revision>
  <cp:lastPrinted>2021-05-27T06:11:57Z</cp:lastPrinted>
  <dcterms:created xsi:type="dcterms:W3CDTF">2021-05-06T13:10:54Z</dcterms:created>
  <dcterms:modified xsi:type="dcterms:W3CDTF">2026-06-17T09:53:35Z</dcterms:modified>
</cp:coreProperties>
</file>